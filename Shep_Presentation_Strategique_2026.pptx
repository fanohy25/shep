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(k€)</c:v>
                </c:pt>
              </c:strCache>
            </c:strRef>
          </c:tx>
          <c:spPr>
            <a:solidFill>
              <a:srgbClr val="2E7DF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T1-25</c:v>
                </c:pt>
                <c:pt idx="1">
                  <c:v>T2-25</c:v>
                </c:pt>
                <c:pt idx="2">
                  <c:v>T3-25</c:v>
                </c:pt>
                <c:pt idx="3">
                  <c:v>T4-25</c:v>
                </c:pt>
                <c:pt idx="4">
                  <c:v>T1-26</c:v>
                </c:pt>
                <c:pt idx="5">
                  <c:v>T2-26</c:v>
                </c:pt>
                <c:pt idx="6">
                  <c:v>T3-26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</c:v>
                </c:pt>
                <c:pt idx="1">
                  <c:v>310</c:v>
                </c:pt>
                <c:pt idx="2">
                  <c:v>470</c:v>
                </c:pt>
                <c:pt idx="3">
                  <c:v>720</c:v>
                </c:pt>
                <c:pt idx="4">
                  <c:v>1050</c:v>
                </c:pt>
                <c:pt idx="5">
                  <c:v>1480</c:v>
                </c:pt>
                <c:pt idx="6">
                  <c:v>2060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14213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C8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</c:v>
                </c:pt>
              </c:strCache>
            </c:strRef>
          </c:tx>
          <c:spPr>
            <a:ln w="34925">
              <a:solidFill>
                <a:srgbClr val="2E7DFF"/>
              </a:solidFill>
            </a:ln>
          </c:spPr>
          <c:marker>
            <c:symbol val="circle"/>
            <c:size val="7"/>
            <c:spPr>
              <a:solidFill>
                <a:srgbClr val="2E7DFF"/>
              </a:solidFill>
              <a:ln w="15875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6.8</c:v>
                </c:pt>
                <c:pt idx="2">
                  <c:v>15.4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Résultat opérationnel</c:v>
                </c:pt>
              </c:strCache>
            </c:strRef>
          </c:tx>
          <c:spPr>
            <a:ln w="34925">
              <a:solidFill>
                <a:srgbClr val="00C2A8"/>
              </a:solidFill>
            </a:ln>
          </c:spPr>
          <c:marker>
            <c:symbol val="circle"/>
            <c:size val="7"/>
            <c:spPr>
              <a:solidFill>
                <a:srgbClr val="00C2A8"/>
              </a:solidFill>
              <a:ln w="15875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-1.9</c:v>
                </c:pt>
                <c:pt idx="1">
                  <c:v>-2.4</c:v>
                </c:pt>
                <c:pt idx="2">
                  <c:v>0.9</c:v>
                </c:pt>
                <c:pt idx="3">
                  <c:v>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B6C8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C8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dPt>
            <c:idx val="0"/>
            <c:spPr>
              <a:solidFill>
                <a:srgbClr val="2E7DFF"/>
              </a:solidFill>
              <a:ln w="25400">
                <a:solidFill>
                  <a:srgbClr val="F7F9FC"/>
                </a:solidFill>
              </a:ln>
            </c:spPr>
          </c:dPt>
          <c:dPt>
            <c:idx val="1"/>
            <c:spPr>
              <a:solidFill>
                <a:srgbClr val="00C2A8"/>
              </a:solidFill>
              <a:ln w="25400">
                <a:solidFill>
                  <a:srgbClr val="F7F9FC"/>
                </a:solidFill>
              </a:ln>
            </c:spPr>
          </c:dPt>
          <c:dPt>
            <c:idx val="2"/>
            <c:spPr>
              <a:solidFill>
                <a:srgbClr val="F5A623"/>
              </a:solidFill>
              <a:ln w="25400">
                <a:solidFill>
                  <a:srgbClr val="F7F9FC"/>
                </a:solidFill>
              </a:ln>
            </c:spPr>
          </c:dPt>
          <c:dPt>
            <c:idx val="3"/>
            <c:spPr>
              <a:solidFill>
                <a:srgbClr val="5B6C81"/>
              </a:solidFill>
              <a:ln w="25400">
                <a:solidFill>
                  <a:srgbClr val="F7F9FC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Go-to-market</c:v>
                </c:pt>
                <c:pt idx="2">
                  <c:v>Delivery &amp; support</c:v>
                </c:pt>
                <c:pt idx="3">
                  <c:v>G&amp;A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34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5B6C8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C81"/>
          </a:solidFill>
          <a:latin typeface="Segoe U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: 30 secondes. Poser le cadre — où nous en sommes, ce que nous demandons, et pourquoi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la structure. Préciser que les annexes financières détaillées sont fournies en document séparé.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consolidation : le budget existe déjà, il est simplement dispersé. Nous ne créons pas une ligne budgétaire, nous en agrégeons plusieurs.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Ancrer sur le chiffre de fin : c'est celui que le CFO retiendra.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clé : Shep ne remplace pas les systèmes en place, il les rend cohérents. C'est l'argument qui désamorce l'objection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dénigrer les concurrents : présenter la matrice comme une aide à la décision. Le prospect se positionne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NRR à 134 % est le chiffre le plus important de la slide : il prouve que la valeur se confirme après la vente.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tier Business concentre 61 % des signatures : c'est notre point d'équilibre prix/valeur.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que le scénario prudent (−30 % sur le pipeline) reporte le point mort au T2 2029 sans besoin de financement additionnel.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Ordre volontaire : la vente directe finance les deux autres moteurs. Ne pas les lancer en parallèle.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caractère conditionnel : pas de phase suivante sans jalon atteint. C'est notre discipline d'allocation.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Prévoir 20 secondes par profil maximum. La gouvernance est ce qui rassure le plus les investisseurs institutionnels.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que les risques sont nommés, quantifiés et pilotés. Un risque non mentionné est un risque suspect.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sur la date de closing. Demander un engagement de calendrier, pas un avis.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cette slide affichée pendant la session de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320">
                <a:solidFill>
                  <a:srgbClr val="00C2A8"/>
                </a:solidFill>
                <a:latin typeface="Segoe UI Semibold"/>
              </a:rPr>
              <a:t>DOSSIER STRATÉGIQUE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 spc="600">
                <a:solidFill>
                  <a:srgbClr val="FFFFFF"/>
                </a:solidFill>
                <a:latin typeface="Segoe UI Semibold"/>
              </a:rPr>
              <a:t>SHEP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07792"/>
            <a:ext cx="1463040" cy="508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Light"/>
              </a:rPr>
              <a:t>Orchestrer les opérations critiques
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d'un bout à l'autre de la chaîne de valeur.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93A6BD"/>
                </a:solidFill>
                <a:latin typeface="Segoe UI"/>
              </a:rPr>
              <a:t>Vision produit, trajectoire de croissance et plan d'exécution présentés au comité stratégique et aux partenaires financiers.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742432"/>
            <a:ext cx="585216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618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spc="140">
                <a:solidFill>
                  <a:srgbClr val="93A6BD"/>
                </a:solidFill>
                <a:latin typeface="Segoe UI"/>
              </a:rPr>
              <a:t>Comité stratégique  ·  Antananarivo  ·  Septembre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1255" y="59618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1" spc="240">
                <a:solidFill>
                  <a:srgbClr val="00C2A8"/>
                </a:solidFill>
                <a:latin typeface="Segoe UI Semibold"/>
              </a:rPr>
              <a:t>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DÉROULÉ DE LA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Quarante minutes de présentation, vingt minutes d'échange.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1488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Contexte de marché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241401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Une fenêtre d'opportunité de 18 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70632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29535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Problème adressé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32186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Le coût caché de la fragmentation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75304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375818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Notre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40233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La plateforme Shep en trois couches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79976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8114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45628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Différenciation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482803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Ce que les alternatives ne font pas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84648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8581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53675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608" y="563270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Preuves d'adoption et signaux de marché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989320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16712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1488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Modèle économique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241401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Unit economics et effet de levier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770632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97180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29535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Trajectoire financière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32186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Du plan 2026 à l'horizon 2029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575304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776472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375818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Go-to-market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40233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Séquence de conquête par segment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379976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8114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45628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482803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Quatre phases, jalons vérifiables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184648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38581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2E7DFF"/>
                </a:solidFill>
                <a:latin typeface="Segoe UI Semibold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53675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42132"/>
                </a:solidFill>
                <a:latin typeface="Segoe UI Semibold"/>
              </a:rPr>
              <a:t>Organisation &amp; risques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563270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Équipe, gouvernance, mitigation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5989320"/>
            <a:ext cx="48920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ivid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1">
                <a:solidFill>
                  <a:srgbClr val="1C3B5E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Contexte &amp; problème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188720" cy="50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93A6BD"/>
                </a:solidFill>
                <a:latin typeface="Segoe UI"/>
              </a:rPr>
              <a:t>Pourquoi le statu quo n'est plus tenable pour les directions opérationnelles.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CONTEXTE DE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Un marché qui bascule vers l'orchestration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Trois dynamiques convergent et créent une fenêtre d'opportunité estimée à 18 mois.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2412415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2" y="2414016"/>
            <a:ext cx="384048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651760"/>
            <a:ext cx="1955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42132"/>
                </a:solidFill>
                <a:latin typeface="Segoe UI Semibold"/>
              </a:rPr>
              <a:t>42 Md$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200400"/>
            <a:ext cx="1955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42132"/>
                </a:solidFill>
                <a:latin typeface="Segoe UI Semibold"/>
              </a:rPr>
              <a:t>Marché adressable 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93008"/>
            <a:ext cx="1955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TAM des plateformes d'orchestration opérationnelle, TCAC de 21 %.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8839" y="2103120"/>
            <a:ext cx="2412415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4871" y="2414016"/>
            <a:ext cx="384048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4871" y="2651760"/>
            <a:ext cx="1955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42132"/>
                </a:solidFill>
                <a:latin typeface="Segoe UI Semibold"/>
              </a:rPr>
              <a:t>68 %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4871" y="3200400"/>
            <a:ext cx="1955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42132"/>
                </a:solidFill>
                <a:latin typeface="Segoe UI Semibold"/>
              </a:rPr>
              <a:t>Directions en refonte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4871" y="3493008"/>
            <a:ext cx="1955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Des DSI/DOP déclarent un projet de rationalisation d'outillage en cours.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0439" y="2103120"/>
            <a:ext cx="2412415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16471" y="2414016"/>
            <a:ext cx="384048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6471" y="2651760"/>
            <a:ext cx="1955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42132"/>
                </a:solidFill>
                <a:latin typeface="Segoe UI Semibold"/>
              </a:rPr>
              <a:t>9,4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3200400"/>
            <a:ext cx="1955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42132"/>
                </a:solidFill>
                <a:latin typeface="Segoe UI Semibold"/>
              </a:rPr>
              <a:t>Outils par équipe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471" y="3493008"/>
            <a:ext cx="1955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Nombre médian d'applications utilisées sur un même processus terrain.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2039" y="2103120"/>
            <a:ext cx="2412415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58071" y="2414016"/>
            <a:ext cx="384048" cy="38100"/>
          </a:xfrm>
          <a:prstGeom prst="rect">
            <a:avLst/>
          </a:prstGeom>
          <a:solidFill>
            <a:srgbClr val="F0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8071" y="2651760"/>
            <a:ext cx="1955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42132"/>
                </a:solidFill>
                <a:latin typeface="Segoe UI Semibold"/>
              </a:rPr>
              <a:t>14 M$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8071" y="3200400"/>
            <a:ext cx="1955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42132"/>
                </a:solidFill>
                <a:latin typeface="Segoe UI Semibold"/>
              </a:rPr>
              <a:t>Coût de l'inaction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071" y="3493008"/>
            <a:ext cx="1955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Perte annuelle moyenne liée aux ruptures de coordination sur un ETI de 2 000 personnes.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498848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498848"/>
            <a:ext cx="50800" cy="13716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47365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spc="200">
                <a:solidFill>
                  <a:srgbClr val="2E7DFF"/>
                </a:solidFill>
                <a:latin typeface="Segoe UI Semibold"/>
              </a:rPr>
              <a:t>LECTURE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502920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La valeur ne se déplace plus vers de nouveaux outils métiers, mais vers la couche qui les relie. Les acheteurs consolident : ils remplacent quatre à six briques par une plateforme unique capable de porter la donnée, la règle métier et l'exécution dans le même flux.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00C2A8"/>
                </a:solidFill>
                <a:latin typeface="Segoe UI Semibold"/>
              </a:rPr>
              <a:t>PROBLÈME ADRESSÉ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 Semibold"/>
              </a:rPr>
              <a:t>Le coût caché de la fragmentation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3A6BD"/>
                </a:solidFill>
                <a:latin typeface="Segoe UI"/>
              </a:rPr>
              <a:t>Quatre ruptures structurelles qui dégradent la marge opérationnelle, trimestre après trimestre.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93A6BD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93A6BD"/>
                </a:solidFill>
                <a:latin typeface="Segoe UI Semibold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21408"/>
            <a:ext cx="2439847" cy="2487168"/>
          </a:xfrm>
          <a:prstGeom prst="roundRect">
            <a:avLst>
              <a:gd name="adj" fmla="val 7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41401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90088"/>
            <a:ext cx="18912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Données dispersées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19856"/>
            <a:ext cx="189120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Les référentiels vivent dans des silos non réconciliés. Chaque décision démarre par une reconstruction manuelle de la vérité terrain.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9695" y="2121408"/>
            <a:ext cx="2439847" cy="2487168"/>
          </a:xfrm>
          <a:prstGeom prst="roundRect">
            <a:avLst>
              <a:gd name="adj" fmla="val 7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84015" y="241401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4015" y="248716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015" y="2990088"/>
            <a:ext cx="18912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Processus non traçables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4015" y="3419856"/>
            <a:ext cx="189120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Aucune piste d'audit continue entre la demande, l'arbitrage et l'exécution. Les écarts se découvrent en fin de cycle.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2151" y="2121408"/>
            <a:ext cx="2439847" cy="2487168"/>
          </a:xfrm>
          <a:prstGeom prst="roundRect">
            <a:avLst>
              <a:gd name="adj" fmla="val 7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6471" y="241401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6471" y="248716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2990088"/>
            <a:ext cx="18912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Coordination manuelle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471" y="3419856"/>
            <a:ext cx="189120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31 % du temps des managers de terrain part en relances, ressaisies et réconciliations entre systèmes.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4607" y="2121408"/>
            <a:ext cx="2439847" cy="2487168"/>
          </a:xfrm>
          <a:prstGeom prst="roundRect">
            <a:avLst>
              <a:gd name="adj" fmla="val 7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48927" y="241401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0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8927" y="248716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7" y="2990088"/>
            <a:ext cx="18912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Pilotage en retard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8927" y="3419856"/>
            <a:ext cx="1891207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Le reporting arrive avec 12 à 20 jours de décalage : on constate les dérives au lieu de les prévenir.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901184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14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901184"/>
            <a:ext cx="50800" cy="10058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5138928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Conséquence mesurée :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93A6BD"/>
                </a:solidFill>
                <a:latin typeface="Segoe UI"/>
              </a:rPr>
              <a:t>entre 6 et 11 points de marge opérationnelle perdus chaque année sur les processus multi-équipes — sans qu'aucun responsable unique ne puisse en rendre compte.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ivid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1">
                <a:solidFill>
                  <a:srgbClr val="1C3B5E"/>
                </a:solidFill>
                <a:latin typeface="Segoe UI Semi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La plateforme Shep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188720" cy="50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93A6BD"/>
                </a:solidFill>
                <a:latin typeface="Segoe UI"/>
              </a:rPr>
              <a:t>Une couche d'orchestration unique : connecter, décider, exécuter, prouver.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NOTRE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Une architecture en trois couches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Shep s'installe au-dessus de l'existant. Aucune migration lourde, une valeur mesurable en 30 jours.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330189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3301898" cy="82296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2395728"/>
            <a:ext cx="27532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2E7DFF"/>
                </a:solidFill>
                <a:latin typeface="Segoe UI Semibold"/>
              </a:rPr>
              <a:t>COUCHE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697480"/>
            <a:ext cx="27532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2"/>
                </a:solidFill>
                <a:latin typeface="Segoe UI Semibold"/>
              </a:rPr>
              <a:t>Connexion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" y="3182112"/>
            <a:ext cx="640080" cy="3175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3456432"/>
            <a:ext cx="268010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2E7DFF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Connecteurs natifs ERP, CRM, MES, RH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2E7DFF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Réconciliation des référentiels en temps réel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2E7DFF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Historisation immuable et horodatée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4898" y="2103120"/>
            <a:ext cx="330189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4898" y="2103120"/>
            <a:ext cx="3301898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94" y="2395728"/>
            <a:ext cx="27532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00C2A8"/>
                </a:solidFill>
                <a:latin typeface="Segoe UI Semibold"/>
              </a:rPr>
              <a:t>COUCHE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5794" y="2697480"/>
            <a:ext cx="27532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2"/>
                </a:solidFill>
                <a:latin typeface="Segoe UI Semibold"/>
              </a:rPr>
              <a:t>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5794" y="3182112"/>
            <a:ext cx="640080" cy="3175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5794" y="3456432"/>
            <a:ext cx="268010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00C2A8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Moteur de règles métier sans code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00C2A8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Arbitrages automatisés et escalades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00C2A8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Workflows conditionnels multi-équipes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2556" y="2103120"/>
            <a:ext cx="330189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2556" y="2103120"/>
            <a:ext cx="3301898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3452" y="2395728"/>
            <a:ext cx="27532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F5A623"/>
                </a:solidFill>
                <a:latin typeface="Segoe UI Semibold"/>
              </a:rPr>
              <a:t>COUCHE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3452" y="2697480"/>
            <a:ext cx="27532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2"/>
                </a:solidFill>
                <a:latin typeface="Segoe UI Semibold"/>
              </a:rPr>
              <a:t>Pilotage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23452" y="3182112"/>
            <a:ext cx="640080" cy="317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3452" y="3456432"/>
            <a:ext cx="268010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Tableaux de bord temps réel par rôle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Détection d'anomalies prédictive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Segoe UI"/>
              </a:rPr>
              <a:t>▪  </a:t>
            </a:r>
            <a:r>
              <a:rPr sz="1150">
                <a:solidFill>
                  <a:srgbClr val="5B6C81"/>
                </a:solidFill>
                <a:latin typeface="Segoe UI"/>
              </a:rPr>
              <a:t>Piste d'audit exportable et conforme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413248"/>
            <a:ext cx="10637215" cy="658368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59552"/>
            <a:ext cx="2659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C2A8"/>
                </a:solidFill>
                <a:latin typeface="Segoe UI Semibold"/>
              </a:rPr>
              <a:t>30 jours   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C7D6E8"/>
                </a:solidFill>
                <a:latin typeface="Segoe UI"/>
              </a:rPr>
              <a:t>première valeur mesurée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6543" y="5559552"/>
            <a:ext cx="2659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C2A8"/>
                </a:solidFill>
                <a:latin typeface="Segoe UI Semibold"/>
              </a:rPr>
              <a:t>−31 %   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C7D6E8"/>
                </a:solidFill>
                <a:latin typeface="Segoe UI"/>
              </a:rPr>
              <a:t>temps de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5559552"/>
            <a:ext cx="2659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C2A8"/>
                </a:solidFill>
                <a:latin typeface="Segoe UI Semibold"/>
              </a:rPr>
              <a:t>×3,2   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C7D6E8"/>
                </a:solidFill>
                <a:latin typeface="Segoe UI"/>
              </a:rPr>
              <a:t>vitesse de traitement des exceptions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5151" y="5559552"/>
            <a:ext cx="2659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C2A8"/>
                </a:solidFill>
                <a:latin typeface="Segoe UI Semibold"/>
              </a:rPr>
              <a:t>100 %   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C7D6E8"/>
                </a:solidFill>
                <a:latin typeface="Segoe UI"/>
              </a:rPr>
              <a:t>traçabilité des décisions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DIFFÉRENCIATION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Ce que les alternatives ne couvrent 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Positionnement face aux trois options réellement évaluées par nos prospects.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10637215" cy="475488"/>
          </a:xfrm>
          <a:prstGeom prst="roundRect">
            <a:avLst>
              <a:gd name="adj" fmla="val 12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468880"/>
            <a:ext cx="10637215" cy="1097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2585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80">
                <a:solidFill>
                  <a:srgbClr val="FFFFFF"/>
                </a:solidFill>
                <a:latin typeface="Segoe UI Semibold"/>
              </a:rPr>
              <a:t>Critère de décision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25856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spc="80">
                <a:solidFill>
                  <a:srgbClr val="FFFFFF"/>
                </a:solidFill>
                <a:latin typeface="Segoe UI Semibold"/>
              </a:rPr>
              <a:t>Shep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25856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spc="80">
                <a:solidFill>
                  <a:srgbClr val="FFFFFF"/>
                </a:solidFill>
                <a:latin typeface="Segoe UI Semibold"/>
              </a:rPr>
              <a:t>Suite ERP étendue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25856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spc="80">
                <a:solidFill>
                  <a:srgbClr val="FFFFFF"/>
                </a:solidFill>
                <a:latin typeface="Segoe UI Semibold"/>
              </a:rPr>
              <a:t>Outils best-of-breed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9528" y="2258568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spc="80">
                <a:solidFill>
                  <a:srgbClr val="FFFFFF"/>
                </a:solidFill>
                <a:latin typeface="Segoe UI Semibold"/>
              </a:rPr>
              <a:t>Développement interne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578608"/>
            <a:ext cx="10637215" cy="420624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40" y="2578608"/>
            <a:ext cx="1920240" cy="420624"/>
          </a:xfrm>
          <a:prstGeom prst="rect">
            <a:avLst/>
          </a:prstGeom>
          <a:solidFill>
            <a:srgbClr val="E6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27111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Délai de mise en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27111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4 à 6 semaines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7111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9 à 14 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7111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2 à 3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711196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12 à 24 mois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92882"/>
            <a:ext cx="10637215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40" y="2999232"/>
            <a:ext cx="1920240" cy="420624"/>
          </a:xfrm>
          <a:prstGeom prst="rect">
            <a:avLst/>
          </a:prstGeom>
          <a:solidFill>
            <a:srgbClr val="E6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1318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Couverture inter-systèmes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31318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Native et complète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1318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Partielle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31318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Point à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13182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Sur mesure, fragile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413506"/>
            <a:ext cx="10637215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419856"/>
            <a:ext cx="10637215" cy="420624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77640" y="3419856"/>
            <a:ext cx="1920240" cy="420624"/>
          </a:xfrm>
          <a:prstGeom prst="rect">
            <a:avLst/>
          </a:prstGeom>
          <a:solidFill>
            <a:srgbClr val="E6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35524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Coût total sur 3 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35524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35524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€€€€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35524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€€€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3552444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€€€€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3834130"/>
            <a:ext cx="10637215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7640" y="3840480"/>
            <a:ext cx="1920240" cy="420624"/>
          </a:xfrm>
          <a:prstGeom prst="rect">
            <a:avLst/>
          </a:prstGeom>
          <a:solidFill>
            <a:srgbClr val="E6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39730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Autonomie des équipes métier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39730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Sans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39730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Dépendance éditeur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9288" y="39730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Variable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9528" y="3973068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Dépendance DSI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54754"/>
            <a:ext cx="10637215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4261104"/>
            <a:ext cx="10637215" cy="420624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77640" y="4261104"/>
            <a:ext cx="1920240" cy="420624"/>
          </a:xfrm>
          <a:prstGeom prst="rect">
            <a:avLst/>
          </a:prstGeom>
          <a:solidFill>
            <a:srgbClr val="E6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" y="43936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Traçabilité &amp; conformité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8" y="43936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Bout en bout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9048" y="43936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Par module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9288" y="43936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Absente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439369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À construire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675378"/>
            <a:ext cx="10637215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77640" y="4681728"/>
            <a:ext cx="1920240" cy="420624"/>
          </a:xfrm>
          <a:prstGeom prst="rect">
            <a:avLst/>
          </a:prstGeom>
          <a:solidFill>
            <a:srgbClr val="E6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" y="48143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Évolutivité du modèle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78808" y="48143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Continue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9048" y="48143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Par version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19288" y="48143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Limitée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9528" y="4814316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Coûteuse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" y="5096002"/>
            <a:ext cx="10637215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>
                <a:solidFill>
                  <a:srgbClr val="142132"/>
                </a:solidFill>
                <a:latin typeface="Segoe UI Semibold"/>
              </a:rPr>
              <a:t>Angle mort du marché : 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B6C81"/>
                </a:solidFill>
                <a:latin typeface="Segoe UI"/>
              </a:rPr>
              <a:t>aucun acteur ne combine aujourd'hui le temps de déploiement d'un outil léger avec la profondeur fonctionnelle d'une suite. C'est exactement l'espace que Shep occupe.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ivid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1">
                <a:solidFill>
                  <a:srgbClr val="1C3B5E"/>
                </a:solidFill>
                <a:latin typeface="Segoe UI Semi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Traction &amp;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188720" cy="50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93A6BD"/>
                </a:solidFill>
                <a:latin typeface="Segoe UI"/>
              </a:rPr>
              <a:t>Les preuves d'adoption, la mécanique de revenus et la trajectoire financière.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Une adoption qui s'accélère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Revenu récurrent annuel et base clients, T1 2025 – T3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73152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04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42132"/>
                </a:solidFill>
                <a:latin typeface="Segoe UI Semibold"/>
              </a:rPr>
              <a:t>ARR (k€) et clients actifs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2606040"/>
          <a:ext cx="70408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458200" y="2103120"/>
            <a:ext cx="2956255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95944" y="2322576"/>
            <a:ext cx="44450" cy="73152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2295144"/>
            <a:ext cx="22795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2132"/>
                </a:solidFill>
                <a:latin typeface="Segoe UI Semibold"/>
              </a:rPr>
              <a:t>2,06 M€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679192"/>
            <a:ext cx="2279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2"/>
                </a:solidFill>
                <a:latin typeface="Segoe UI Semibold"/>
              </a:rPr>
              <a:t>ARR au T3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907792"/>
            <a:ext cx="2279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+186 % en glissement annuel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383280"/>
            <a:ext cx="2956255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95944" y="3602736"/>
            <a:ext cx="44450" cy="7315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3575304"/>
            <a:ext cx="22795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2132"/>
                </a:solidFill>
                <a:latin typeface="Segoe UI Semibold"/>
              </a:rPr>
              <a:t>134 %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3959352"/>
            <a:ext cx="2279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2"/>
                </a:solidFill>
                <a:latin typeface="Segoe UI Semibold"/>
              </a:rPr>
              <a:t>Net revenue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4187952"/>
            <a:ext cx="2279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Expansion nette sur base installée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663440"/>
            <a:ext cx="2956255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95944" y="4882896"/>
            <a:ext cx="44450" cy="7315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4855464"/>
            <a:ext cx="22795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2132"/>
                </a:solidFill>
                <a:latin typeface="Segoe UI Semibold"/>
              </a:rPr>
              <a:t>11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5239512"/>
            <a:ext cx="2279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2"/>
                </a:solidFill>
                <a:latin typeface="Segoe UI Semibold"/>
              </a:rPr>
              <a:t>Payback 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5468112"/>
            <a:ext cx="2279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Sous la barre des 12 mois visée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943600"/>
            <a:ext cx="2956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5B6C81"/>
                </a:solidFill>
                <a:latin typeface="Segoe UI"/>
              </a:rPr>
              <a:t>Source : reporting interne, clôture 30/09/2026.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00C2A8"/>
                </a:solidFill>
                <a:latin typeface="Segoe UI Semibold"/>
              </a:rPr>
              <a:t>MODÈLE ÉCONOMIQUE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 Semibold"/>
              </a:rPr>
              <a:t>Un modèle à fort effet de levier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3A6BD"/>
                </a:solidFill>
                <a:latin typeface="Segoe UI"/>
              </a:rPr>
              <a:t>Abonnement par plateforme, extension par volume d'opérations orchestrées.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93A6BD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93A6BD"/>
                </a:solidFill>
                <a:latin typeface="Segoe UI Semibold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2225040" cy="2880360"/>
          </a:xfrm>
          <a:prstGeom prst="roundRect">
            <a:avLst>
              <a:gd name="adj" fmla="val 7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2225040" cy="64008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40864"/>
            <a:ext cx="167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2E7DFF"/>
                </a:solidFill>
                <a:latin typeface="Segoe UI Semibold"/>
              </a:rPr>
              <a:t>ESSENTIEL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51760"/>
            <a:ext cx="167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1 900 €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  / mois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218688"/>
            <a:ext cx="167640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67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Jusqu'à 150 utilisateurs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8 connecteurs standards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Support 8h/5j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Onboarding guidé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600" y="2103120"/>
            <a:ext cx="2225040" cy="2880360"/>
          </a:xfrm>
          <a:prstGeom prst="roundRect">
            <a:avLst>
              <a:gd name="adj" fmla="val 7000"/>
            </a:avLst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600" y="2103120"/>
            <a:ext cx="222504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4632" y="228600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4632" y="232257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50" b="1">
                <a:solidFill>
                  <a:srgbClr val="081424"/>
                </a:solidFill>
                <a:latin typeface="Segoe UI Semibold"/>
              </a:rPr>
              <a:t>RECOMMANDÉ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0920" y="2340864"/>
            <a:ext cx="167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00C2A8"/>
                </a:solidFill>
                <a:latin typeface="Segoe UI Semibold"/>
              </a:rP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920" y="2651760"/>
            <a:ext cx="167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4 800 €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  / mois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0920" y="3218688"/>
            <a:ext cx="167640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0920" y="3429000"/>
            <a:ext cx="167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Utilisateurs illimités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Connecteurs illimités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Support 24/5 et SLA 99,9 %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Customer success dédié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75960" y="2103120"/>
            <a:ext cx="2225040" cy="2880360"/>
          </a:xfrm>
          <a:prstGeom prst="roundRect">
            <a:avLst>
              <a:gd name="adj" fmla="val 7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75960" y="2103120"/>
            <a:ext cx="2225040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0280" y="2340864"/>
            <a:ext cx="167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F5A623"/>
                </a:solidFill>
                <a:latin typeface="Segoe UI Semibold"/>
              </a:rPr>
              <a:t>ENTREPRISE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0280" y="2651760"/>
            <a:ext cx="167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Sur devis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3A6BD"/>
                </a:solidFill>
                <a:latin typeface="Segoe UI"/>
              </a:rPr>
              <a:t>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0280" y="3218688"/>
            <a:ext cx="167640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0280" y="3429000"/>
            <a:ext cx="167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Déploiement multi-entités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Hébergement souverain au choix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Conformité et audit renforcés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93A6BD"/>
                </a:solidFill>
                <a:latin typeface="Segoe UI"/>
              </a:rPr>
              <a:t>Accompagnement stratégique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103120"/>
            <a:ext cx="3139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spc="200">
                <a:solidFill>
                  <a:srgbClr val="00C2A8"/>
                </a:solidFill>
                <a:latin typeface="Segoe UI Semibold"/>
              </a:rPr>
              <a:t>UNIT ECONOMICS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487168"/>
            <a:ext cx="2133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LTV / 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2487168"/>
            <a:ext cx="3139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4,7×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834640"/>
            <a:ext cx="3139136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3017520"/>
            <a:ext cx="2133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Marge brute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3017520"/>
            <a:ext cx="3139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82 %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3364992"/>
            <a:ext cx="3139136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3547872"/>
            <a:ext cx="2133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ACV moyen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3547872"/>
            <a:ext cx="3139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46 k€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9" y="3895344"/>
            <a:ext cx="3139136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4078224"/>
            <a:ext cx="2133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Churn logo annuel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9" y="4078224"/>
            <a:ext cx="3139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6,1 %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9" y="4425696"/>
            <a:ext cx="3139136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4608576"/>
            <a:ext cx="2133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Cycle de vente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9" y="4608576"/>
            <a:ext cx="3139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74 jours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4956048"/>
            <a:ext cx="3139136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PLAN FINANCIER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Trajectoire 2026 – 2029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Scénario central : rentabilité opérationnelle atteinte au second semestre 2028.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6675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2860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2"/>
                </a:solidFill>
                <a:latin typeface="Segoe UI Semibold"/>
              </a:rPr>
              <a:t>Revenus et résultat opérationnel (M€)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868680" y="2560320"/>
          <a:ext cx="644652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744968" y="2103120"/>
            <a:ext cx="3669487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22860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2"/>
                </a:solidFill>
                <a:latin typeface="Segoe UI Semibold"/>
              </a:rPr>
              <a:t>Structure de coûts 2027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854696" y="2523744"/>
          <a:ext cx="3456432" cy="22128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7240" y="5074920"/>
            <a:ext cx="1063721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66944"/>
            <a:ext cx="22021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2E7DFF"/>
                </a:solidFill>
                <a:latin typeface="Segoe UI Semibold"/>
              </a:rPr>
              <a:t>×2,6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96128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croissance annuelle moyenne des revenus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6543" y="5230368"/>
            <a:ext cx="9525" cy="6035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863" y="5266944"/>
            <a:ext cx="22021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2E7DFF"/>
                </a:solidFill>
                <a:latin typeface="Segoe UI Semibold"/>
              </a:rPr>
              <a:t>82 %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863" y="5596128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marge brute maintenue à l'échelle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5230368"/>
            <a:ext cx="9525" cy="6035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5266944"/>
            <a:ext cx="22021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2E7DFF"/>
                </a:solidFill>
                <a:latin typeface="Segoe UI Semibold"/>
              </a:rPr>
              <a:t>S2 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5596128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point mort opérationnel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5151" y="5230368"/>
            <a:ext cx="9525" cy="6035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9471" y="5266944"/>
            <a:ext cx="22021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2E7DFF"/>
                </a:solidFill>
                <a:latin typeface="Segoe UI Semibold"/>
              </a:rPr>
              <a:t>22 mois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471" y="5596128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runway au closing du tour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00C2A8"/>
                </a:solidFill>
                <a:latin typeface="Segoe UI Semibold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 Semibold"/>
              </a:rPr>
              <a:t>Séquence de conquête par segment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3A6BD"/>
                </a:solidFill>
                <a:latin typeface="Segoe UI"/>
              </a:rPr>
              <a:t>Trois moteurs d'acquisition activés dans un ordre précis pour préserver l'efficacité du capital.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93A6BD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93A6BD"/>
                </a:solidFill>
                <a:latin typeface="Segoe UI Semibold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7498079" cy="1051560"/>
          </a:xfrm>
          <a:prstGeom prst="roundRect">
            <a:avLst>
              <a:gd name="adj" fmla="val 8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50800" cy="105156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180">
                <a:solidFill>
                  <a:srgbClr val="2E7DFF"/>
                </a:solidFill>
                <a:latin typeface="Segoe UI Semibold"/>
              </a:rPr>
              <a:t>MOTEUR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23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Vente directe grands comptes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4086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Équipe de 6 AE seniors ciblant l'industrie et la logistique. ACV cible 80 k€, cycle 90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46888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523744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81424"/>
                </a:solidFill>
                <a:latin typeface="Segoe UI Semibold"/>
              </a:rPr>
              <a:t>54 %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798064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3A6BD"/>
                </a:solidFill>
                <a:latin typeface="Segoe UI"/>
              </a:rPr>
              <a:t>du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7498079" cy="1051560"/>
          </a:xfrm>
          <a:prstGeom prst="roundRect">
            <a:avLst>
              <a:gd name="adj" fmla="val 8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50800" cy="10515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180">
                <a:solidFill>
                  <a:srgbClr val="00C2A8"/>
                </a:solidFill>
                <a:latin typeface="Segoe UI Semibold"/>
              </a:rPr>
              <a:t>MOTEUR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58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Partenariats intégrateurs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57530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Cinq cabinets référencés, marge revendeur 25 %. Effet de levier sur les appels d'offres publics.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703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758184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81424"/>
                </a:solidFill>
                <a:latin typeface="Segoe UI Semibold"/>
              </a:rPr>
              <a:t>29 %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032504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3A6BD"/>
                </a:solidFill>
                <a:latin typeface="Segoe UI"/>
              </a:rPr>
              <a:t>du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72000"/>
            <a:ext cx="7498079" cy="1051560"/>
          </a:xfrm>
          <a:prstGeom prst="roundRect">
            <a:avLst>
              <a:gd name="adj" fmla="val 8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572000"/>
            <a:ext cx="50800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75488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spc="180">
                <a:solidFill>
                  <a:srgbClr val="F5A623"/>
                </a:solidFill>
                <a:latin typeface="Segoe UI Semibold"/>
              </a:rPr>
              <a:t>MOTEUR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9926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Product-led 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0974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Essai encadré 21 jours puis expansion par équipe. Alimente le segment mid-market sans coût commercial.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493776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4992624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81424"/>
                </a:solidFill>
                <a:latin typeface="Segoe UI Semibold"/>
              </a:rPr>
              <a:t>17 %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266944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3A6BD"/>
                </a:solidFill>
                <a:latin typeface="Segoe UI"/>
              </a:rPr>
              <a:t>du pipeline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2103120"/>
            <a:ext cx="2773375" cy="3703320"/>
          </a:xfrm>
          <a:prstGeom prst="roundRect">
            <a:avLst>
              <a:gd name="adj" fmla="val 6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33688" y="2331720"/>
            <a:ext cx="2224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00C2A8"/>
                </a:solidFill>
                <a:latin typeface="Segoe UI Semibold"/>
              </a:rPr>
              <a:t>PRIORITÉS 12 MOIS</a:t>
            </a:r>
          </a:p>
        </p:txBody>
      </p:sp>
      <p:sp>
        <p:nvSpPr>
          <p:cNvPr id="37" name="Oval 36"/>
          <p:cNvSpPr/>
          <p:nvPr/>
        </p:nvSpPr>
        <p:spPr>
          <a:xfrm>
            <a:off x="8933688" y="2807208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743200"/>
            <a:ext cx="19046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Verticaliser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industrie et logistique d'abord, santé en 2027.</a:t>
            </a:r>
          </a:p>
        </p:txBody>
      </p:sp>
      <p:sp>
        <p:nvSpPr>
          <p:cNvPr id="39" name="Oval 38"/>
          <p:cNvSpPr/>
          <p:nvPr/>
        </p:nvSpPr>
        <p:spPr>
          <a:xfrm>
            <a:off x="8933688" y="3557016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3493008"/>
            <a:ext cx="19046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Industrialiser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playbook de vente et démonstrateur sectoriel.</a:t>
            </a:r>
          </a:p>
        </p:txBody>
      </p:sp>
      <p:sp>
        <p:nvSpPr>
          <p:cNvPr id="41" name="Oval 40"/>
          <p:cNvSpPr/>
          <p:nvPr/>
        </p:nvSpPr>
        <p:spPr>
          <a:xfrm>
            <a:off x="8933688" y="4306824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242816"/>
            <a:ext cx="19046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Internationaliser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Benelux et péninsule ibérique au S2 2027.</a:t>
            </a:r>
          </a:p>
        </p:txBody>
      </p:sp>
      <p:sp>
        <p:nvSpPr>
          <p:cNvPr id="43" name="Oval 42"/>
          <p:cNvSpPr/>
          <p:nvPr/>
        </p:nvSpPr>
        <p:spPr>
          <a:xfrm>
            <a:off x="8933688" y="5056632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4992624"/>
            <a:ext cx="19046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Prouver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3A6BD"/>
                </a:solidFill>
                <a:latin typeface="Segoe UI"/>
              </a:rPr>
              <a:t>trois études de cas chiffrées et auditées.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ROADMAP D'EXÉCUTION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Quatre phases, des jalons vérifiables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Chaque phase est conditionnée par l'atteinte des jalons de la précédente.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70048"/>
            <a:ext cx="10637215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24809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160">
                <a:solidFill>
                  <a:srgbClr val="2E7DFF"/>
                </a:solidFill>
                <a:latin typeface="Segoe UI Semibold"/>
              </a:rPr>
              <a:t>T4 2026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606040"/>
            <a:ext cx="173736" cy="173736"/>
          </a:xfrm>
          <a:prstGeom prst="ellipse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" y="2656332"/>
            <a:ext cx="73152" cy="73152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44368"/>
            <a:ext cx="23895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132"/>
                </a:solidFill>
                <a:latin typeface="Segoe UI Semibold"/>
              </a:rPr>
              <a:t>Consolidation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11296"/>
            <a:ext cx="23438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Certification ISO 27001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Connecteurs SAP et Dynamics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3 études de cas publiées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2E7DFF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ARR 2,9 M€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5979" y="2194560"/>
            <a:ext cx="24809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160">
                <a:solidFill>
                  <a:srgbClr val="00C2A8"/>
                </a:solidFill>
                <a:latin typeface="Segoe UI Semibold"/>
              </a:rPr>
              <a:t>S1 2027</a:t>
            </a:r>
          </a:p>
        </p:txBody>
      </p:sp>
      <p:sp>
        <p:nvSpPr>
          <p:cNvPr id="18" name="Oval 17"/>
          <p:cNvSpPr/>
          <p:nvPr/>
        </p:nvSpPr>
        <p:spPr>
          <a:xfrm>
            <a:off x="3495979" y="2606040"/>
            <a:ext cx="173736" cy="173736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46271" y="2656332"/>
            <a:ext cx="73152" cy="73152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5979" y="2944368"/>
            <a:ext cx="23895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132"/>
                </a:solidFill>
                <a:latin typeface="Segoe UI Semibold"/>
              </a:rPr>
              <a:t>Industrialisation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5979" y="3511296"/>
            <a:ext cx="23438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Moteur de règles v2 sans code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Portail partenaires intégrateurs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SLA 99,95 %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ARR 5,1 M€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4719" y="2194560"/>
            <a:ext cx="24809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160">
                <a:solidFill>
                  <a:srgbClr val="F5A623"/>
                </a:solidFill>
                <a:latin typeface="Segoe UI Semibold"/>
              </a:rPr>
              <a:t>S2 2027</a:t>
            </a:r>
          </a:p>
        </p:txBody>
      </p:sp>
      <p:sp>
        <p:nvSpPr>
          <p:cNvPr id="23" name="Oval 22"/>
          <p:cNvSpPr/>
          <p:nvPr/>
        </p:nvSpPr>
        <p:spPr>
          <a:xfrm>
            <a:off x="6214719" y="2606040"/>
            <a:ext cx="173736" cy="17373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65011" y="2656332"/>
            <a:ext cx="73152" cy="73152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4719" y="2944368"/>
            <a:ext cx="23895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132"/>
                </a:solidFill>
                <a:latin typeface="Segoe UI Semibold"/>
              </a:rPr>
              <a:t>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4719" y="3511296"/>
            <a:ext cx="23438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Ouverture Benelux et Ibérie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Modules sectoriels santé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Marketplace de connecteurs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5A623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ARR 6,8 M€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459" y="2194560"/>
            <a:ext cx="24809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160">
                <a:solidFill>
                  <a:srgbClr val="F0625B"/>
                </a:solidFill>
                <a:latin typeface="Segoe UI Semibold"/>
              </a:rPr>
              <a:t>2028 – 2029</a:t>
            </a:r>
          </a:p>
        </p:txBody>
      </p:sp>
      <p:sp>
        <p:nvSpPr>
          <p:cNvPr id="28" name="Oval 27"/>
          <p:cNvSpPr/>
          <p:nvPr/>
        </p:nvSpPr>
        <p:spPr>
          <a:xfrm>
            <a:off x="8933459" y="2606040"/>
            <a:ext cx="173736" cy="173736"/>
          </a:xfrm>
          <a:prstGeom prst="ellipse">
            <a:avLst/>
          </a:prstGeom>
          <a:solidFill>
            <a:srgbClr val="F0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3751" y="2656332"/>
            <a:ext cx="73152" cy="73152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33459" y="2944368"/>
            <a:ext cx="23895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132"/>
                </a:solidFill>
                <a:latin typeface="Segoe UI Semibold"/>
              </a:rPr>
              <a:t>Passage à l'échelle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459" y="3511296"/>
            <a:ext cx="23438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0625B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Copilote décisionnel prédictif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0625B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Souveraineté multi-région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0625B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Point mort opérationnel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>
                <a:solidFill>
                  <a:srgbClr val="F0625B"/>
                </a:solidFill>
                <a:latin typeface="Segoe UI"/>
              </a:rPr>
              <a:t>▪  </a:t>
            </a:r>
            <a:r>
              <a:rPr sz="1050">
                <a:solidFill>
                  <a:srgbClr val="5B6C81"/>
                </a:solidFill>
                <a:latin typeface="Segoe UI"/>
              </a:rPr>
              <a:t>ARR 15 M€ puis 31 M€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074920"/>
            <a:ext cx="10637215" cy="914400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" y="5266944"/>
            <a:ext cx="21563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 spc="160">
                <a:solidFill>
                  <a:srgbClr val="00C2A8"/>
                </a:solidFill>
                <a:latin typeface="Segoe UI Semibold"/>
              </a:rPr>
              <a:t>JALON BLOQUANT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" y="5522976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Certification ISO 27001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36543" y="5230368"/>
            <a:ext cx="9525" cy="603504"/>
          </a:xfrm>
          <a:prstGeom prst="rect">
            <a:avLst/>
          </a:prstGeom>
          <a:solidFill>
            <a:srgbClr val="2C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7439" y="5266944"/>
            <a:ext cx="21563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 spc="160">
                <a:solidFill>
                  <a:srgbClr val="00C2A8"/>
                </a:solidFill>
                <a:latin typeface="Segoe UI Semibold"/>
              </a:rPr>
              <a:t>DÉCISION COMITÉ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7439" y="5522976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Fin T4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5847" y="5230368"/>
            <a:ext cx="9525" cy="603504"/>
          </a:xfrm>
          <a:prstGeom prst="rect">
            <a:avLst/>
          </a:prstGeom>
          <a:solidFill>
            <a:srgbClr val="2C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6743" y="5266944"/>
            <a:ext cx="21563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 spc="160">
                <a:solidFill>
                  <a:srgbClr val="00C2A8"/>
                </a:solidFill>
                <a:latin typeface="Segoe UI Semibold"/>
              </a:rPr>
              <a:t>INDICATEUR DE PASSAGE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6743" y="5522976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ARR et NRR engagés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55151" y="5230368"/>
            <a:ext cx="9525" cy="603504"/>
          </a:xfrm>
          <a:prstGeom prst="rect">
            <a:avLst/>
          </a:prstGeom>
          <a:solidFill>
            <a:srgbClr val="2C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6047" y="5266944"/>
            <a:ext cx="21563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 spc="160">
                <a:solidFill>
                  <a:srgbClr val="00C2A8"/>
                </a:solidFill>
                <a:latin typeface="Segoe UI Semibold"/>
              </a:rPr>
              <a:t>RESPONSABLE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6047" y="5522976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Comité produit + DG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L'équipe qui exécute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42 collaborateurs, dont 58 % en R&amp;D et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2426131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3591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DG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62656"/>
            <a:ext cx="18774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Direction générale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0128"/>
            <a:ext cx="18774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Stratégie, financement, partenariats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94176"/>
            <a:ext cx="18774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2E7DFF"/>
                </a:solidFill>
                <a:latin typeface="Segoe UI"/>
              </a:rPr>
              <a:t>18 ans en édition logicielle B2B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4267" y="2103120"/>
            <a:ext cx="2426131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88587" y="23591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8587" y="248716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8587" y="2962656"/>
            <a:ext cx="18774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Direction technique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587" y="3310128"/>
            <a:ext cx="18774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Plateforme, sécurité, fiabilité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8587" y="3694176"/>
            <a:ext cx="18774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2E7DFF"/>
                </a:solidFill>
                <a:latin typeface="Segoe UI"/>
              </a:rPr>
              <a:t>Ex-architecte de systèmes à forte charge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1295" y="2103120"/>
            <a:ext cx="2426131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25615" y="23591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5615" y="248716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CPO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962656"/>
            <a:ext cx="18774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Direction produit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615" y="3310128"/>
            <a:ext cx="18774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Vision, discovery, design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694176"/>
            <a:ext cx="18774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2E7DFF"/>
                </a:solidFill>
                <a:latin typeface="Segoe UI"/>
              </a:rPr>
              <a:t>3 produits menés du zéro à l'échelle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323" y="2103120"/>
            <a:ext cx="2426131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62643" y="23591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0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2643" y="248716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643" y="2962656"/>
            <a:ext cx="18774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Direction commerciale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643" y="3310128"/>
            <a:ext cx="18774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Vente directe, partenariats, 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643" y="3694176"/>
            <a:ext cx="18774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2E7DFF"/>
                </a:solidFill>
                <a:latin typeface="Segoe UI"/>
              </a:rPr>
              <a:t>Construction de deux équipes à 10 M€ d'ARR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224528"/>
            <a:ext cx="56692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43891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2132"/>
                </a:solidFill>
                <a:latin typeface="Segoe UI Semibold"/>
              </a:rPr>
              <a:t>Répartition des effectifs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470001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R&amp;D et produit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40" y="4745736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063240" y="4745736"/>
            <a:ext cx="1358537" cy="118872"/>
          </a:xfrm>
          <a:prstGeom prst="roundRect">
            <a:avLst>
              <a:gd name="adj" fmla="val 50000"/>
            </a:avLst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70001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142132"/>
                </a:solidFill>
                <a:latin typeface="Segoe UI Semibold"/>
              </a:rPr>
              <a:t>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499262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Commercial et marketing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503834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63240" y="5038344"/>
            <a:ext cx="566057" cy="1188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49926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142132"/>
                </a:solidFill>
                <a:latin typeface="Segoe UI Semibold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528523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Delivery et 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5330952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63240" y="5330952"/>
            <a:ext cx="283028" cy="1188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5285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142132"/>
                </a:solidFill>
                <a:latin typeface="Segoe UI Semibold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" y="55778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B6C81"/>
                </a:solidFill>
                <a:latin typeface="Segoe UI"/>
              </a:rPr>
              <a:t>Support corporate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63240" y="5623560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063240" y="5623560"/>
            <a:ext cx="169817" cy="118872"/>
          </a:xfrm>
          <a:prstGeom prst="roundRect">
            <a:avLst>
              <a:gd name="adj" fmla="val 50000"/>
            </a:avLst>
          </a:prstGeom>
          <a:solidFill>
            <a:srgbClr val="5B6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557784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142132"/>
                </a:solidFill>
                <a:latin typeface="Segoe UI Semibold"/>
              </a:rPr>
              <a:t>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20840" y="4224528"/>
            <a:ext cx="4693615" cy="1691640"/>
          </a:xfrm>
          <a:prstGeom prst="roundRect">
            <a:avLst>
              <a:gd name="adj" fmla="val 5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13448" y="43891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00C2A8"/>
                </a:solidFill>
                <a:latin typeface="Segoe UI Semibold"/>
              </a:rPr>
              <a:t>GOUVERNANCE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700016"/>
            <a:ext cx="41083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C7D6E8"/>
                </a:solidFill>
                <a:latin typeface="Segoe UI"/>
              </a:rPr>
              <a:t>Conseil stratégique trimestriel avec investisseurs et deux indépendants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C7D6E8"/>
                </a:solidFill>
                <a:latin typeface="Segoe UI"/>
              </a:rPr>
              <a:t>Revue de performance mensuelle sur 11 indicateurs engagés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>
                <a:solidFill>
                  <a:srgbClr val="00C2A8"/>
                </a:solidFill>
                <a:latin typeface="Segoe UI"/>
              </a:rPr>
              <a:t>▪  </a:t>
            </a:r>
            <a:r>
              <a:rPr sz="1050">
                <a:solidFill>
                  <a:srgbClr val="C7D6E8"/>
                </a:solidFill>
                <a:latin typeface="Segoe UI"/>
              </a:rPr>
              <a:t>Comité produit bimensuel arbitrant la roadmap à 90 jours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00C2A8"/>
                </a:solidFill>
                <a:latin typeface="Segoe UI Semibold"/>
              </a:rPr>
              <a:t>MAÎTRISE DES RISQUES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Segoe UI Semibold"/>
              </a:rPr>
              <a:t>Risques identifiés et plans de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3A6BD"/>
                </a:solidFill>
                <a:latin typeface="Segoe UI"/>
              </a:rPr>
              <a:t>Quatre risques suivis en comité, avec un responsable et un indicateur d'alerte chacun.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1E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93A6BD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93A6BD"/>
                </a:solidFill>
                <a:latin typeface="Segoe UI Semibold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21408"/>
            <a:ext cx="5181447" cy="1664208"/>
          </a:xfrm>
          <a:prstGeom prst="roundRect">
            <a:avLst>
              <a:gd name="adj" fmla="val 6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21408"/>
            <a:ext cx="50800" cy="1664208"/>
          </a:xfrm>
          <a:prstGeom prst="rect">
            <a:avLst/>
          </a:prstGeom>
          <a:solidFill>
            <a:srgbClr val="F0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6424" y="235915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0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2395728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081424"/>
                </a:solidFill>
                <a:latin typeface="Segoe UI Semibold"/>
              </a:rPr>
              <a:t>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59152"/>
            <a:ext cx="3626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Concentration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2743200"/>
            <a:ext cx="4523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Les trois premiers clients représentent 34 % de l'ARR.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3182112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F0625B"/>
                </a:solidFill>
                <a:latin typeface="Segoe UI Semibold"/>
              </a:rPr>
              <a:t>Mitigation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C7D6E8"/>
                </a:solidFill>
                <a:latin typeface="Segoe UI"/>
              </a:rPr>
              <a:t>Objectif &lt; 20 % fin 2027 via 18 nouvelles signatures mid-market.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1408"/>
            <a:ext cx="5181447" cy="1664208"/>
          </a:xfrm>
          <a:prstGeom prst="roundRect">
            <a:avLst>
              <a:gd name="adj" fmla="val 6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121408"/>
            <a:ext cx="50800" cy="16642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2191" y="235915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191" y="2395728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081424"/>
                </a:solidFill>
                <a:latin typeface="Segoe UI Semibold"/>
              </a:rPr>
              <a:t>MOYEN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727" y="2359152"/>
            <a:ext cx="3626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Pression concurrentielle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191" y="2743200"/>
            <a:ext cx="4523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Entrée probable d'un éditeur généraliste sur le segment.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191" y="3182112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 Semibold"/>
              </a:rPr>
              <a:t>Mitigation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C7D6E8"/>
                </a:solidFill>
                <a:latin typeface="Segoe UI"/>
              </a:rPr>
              <a:t>Avance produit de 14 mois maintenue, verrou par la profondeur des connecteurs.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995927"/>
            <a:ext cx="5181447" cy="1664208"/>
          </a:xfrm>
          <a:prstGeom prst="roundRect">
            <a:avLst>
              <a:gd name="adj" fmla="val 6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95927"/>
            <a:ext cx="50800" cy="16642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6424" y="4233671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4270247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081424"/>
                </a:solidFill>
                <a:latin typeface="Segoe UI Semibold"/>
              </a:rPr>
              <a:t>MOYEN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233671"/>
            <a:ext cx="3626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Recrutement technique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" y="4617719"/>
            <a:ext cx="4523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Tension sur les profils plateforme et données.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" y="5056631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 Semibold"/>
              </a:rPr>
              <a:t>Mitigation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C7D6E8"/>
                </a:solidFill>
                <a:latin typeface="Segoe UI"/>
              </a:rPr>
              <a:t>Marque employeur, rémunération au 75e centile, 30 % de postes distribués.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3995927"/>
            <a:ext cx="5181447" cy="1664208"/>
          </a:xfrm>
          <a:prstGeom prst="roundRect">
            <a:avLst>
              <a:gd name="adj" fmla="val 6000"/>
            </a:avLst>
          </a:prstGeom>
          <a:solidFill>
            <a:srgbClr val="10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3007" y="3995927"/>
            <a:ext cx="50800" cy="16642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62191" y="4233671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2191" y="4270247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081424"/>
                </a:solidFill>
                <a:latin typeface="Segoe UI Semibold"/>
              </a:rPr>
              <a:t>FAIBLE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1727" y="4233671"/>
            <a:ext cx="3626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Conformité et souveraineté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191" y="4617719"/>
            <a:ext cx="4523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3A6BD"/>
                </a:solidFill>
                <a:latin typeface="Segoe UI"/>
              </a:rPr>
              <a:t>Exigences réglementaires croissantes sur les données.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2191" y="5056631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>
                <a:solidFill>
                  <a:srgbClr val="00C2A8"/>
                </a:solidFill>
                <a:latin typeface="Segoe UI Semibold"/>
              </a:rPr>
              <a:t>Mitigation —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C7D6E8"/>
                </a:solidFill>
                <a:latin typeface="Segoe UI"/>
              </a:rPr>
              <a:t>ISO 27001 en cours, hébergement régional au choix dès le T4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spc="220">
                <a:solidFill>
                  <a:srgbClr val="2E7DFF"/>
                </a:solidFill>
                <a:latin typeface="Segoe UI Semibold"/>
              </a:rPr>
              <a:t>DÉCISION ATTENDUE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>
                <a:solidFill>
                  <a:srgbClr val="142132"/>
                </a:solidFill>
                <a:latin typeface="Segoe UI Semibold"/>
              </a:rPr>
              <a:t>Ce que nous demandons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51560" cy="381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B6C81"/>
                </a:solidFill>
                <a:latin typeface="Segoe UI"/>
              </a:rPr>
              <a:t>Un tour de série A de 8 M€ pour financer 24 mois d'exécution jusqu'au point mort.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spc="120">
                <a:solidFill>
                  <a:srgbClr val="5B6C81"/>
                </a:solidFill>
                <a:latin typeface="Segoe UI"/>
              </a:rPr>
              <a:t>SHEP  ·  Dossier stratégique confidentiel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7278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5B6C81"/>
                </a:solidFill>
                <a:latin typeface="Segoe UI Semibold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22738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40864"/>
            <a:ext cx="1725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E7DFF"/>
                </a:solidFill>
                <a:latin typeface="Segoe UI Semibold"/>
              </a:rPr>
              <a:t>45 %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1725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Produit et R&amp;D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310128"/>
            <a:ext cx="548640" cy="3175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17251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Moteur de règles v2, copilote décisionnel, souveraineté multi-région.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3656" y="2103120"/>
            <a:ext cx="22738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7976" y="2340864"/>
            <a:ext cx="1725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0C2A8"/>
                </a:solidFill>
                <a:latin typeface="Segoe UI Semibold"/>
              </a:rPr>
              <a:t>35 %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7976" y="2852928"/>
            <a:ext cx="1725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Go-to-market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7976" y="3310128"/>
            <a:ext cx="548640" cy="3175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7976" y="3493008"/>
            <a:ext cx="17251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Doublement de l'équipe commerciale, ouverture de deux marchés européens.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10072" y="2103120"/>
            <a:ext cx="22738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4392" y="2340864"/>
            <a:ext cx="1725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A623"/>
                </a:solidFill>
                <a:latin typeface="Segoe UI Semibold"/>
              </a:rPr>
              <a:t>20 %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4392" y="2852928"/>
            <a:ext cx="1725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Delivery et conformité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4392" y="3310128"/>
            <a:ext cx="548640" cy="317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4392" y="3493008"/>
            <a:ext cx="17251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B6C81"/>
                </a:solidFill>
                <a:latin typeface="Segoe UI"/>
              </a:rPr>
              <a:t>Certifications, support 24/5, industrialisation de l'onboarding.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70832"/>
            <a:ext cx="7406640" cy="1508760"/>
          </a:xfrm>
          <a:prstGeom prst="roundRect">
            <a:avLst>
              <a:gd name="adj" fmla="val 6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5902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00C2A8"/>
                </a:solidFill>
                <a:latin typeface="Segoe UI Semibold"/>
              </a:rPr>
              <a:t>PROCHAINES ÉTAPES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" y="4983480"/>
            <a:ext cx="237744" cy="23774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0200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081424"/>
                </a:solidFill>
                <a:latin typeface="Segoe UI Semibold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093208"/>
            <a:ext cx="1284732" cy="12700"/>
          </a:xfrm>
          <a:prstGeom prst="rect">
            <a:avLst/>
          </a:prstGeom>
          <a:solidFill>
            <a:srgbClr val="2C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303520"/>
            <a:ext cx="15041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Accès data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59552"/>
            <a:ext cx="15041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3A6BD"/>
                </a:solidFill>
                <a:latin typeface="Segoe UI"/>
              </a:rPr>
              <a:t>sous 48 heures</a:t>
            </a:r>
          </a:p>
        </p:txBody>
      </p:sp>
      <p:sp>
        <p:nvSpPr>
          <p:cNvPr id="33" name="Oval 32"/>
          <p:cNvSpPr/>
          <p:nvPr/>
        </p:nvSpPr>
        <p:spPr>
          <a:xfrm>
            <a:off x="2811780" y="4983480"/>
            <a:ext cx="237744" cy="23774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1780" y="50200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081424"/>
                </a:solidFill>
                <a:latin typeface="Segoe UI Semibold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86100" y="5093208"/>
            <a:ext cx="1284732" cy="12700"/>
          </a:xfrm>
          <a:prstGeom prst="rect">
            <a:avLst/>
          </a:prstGeom>
          <a:solidFill>
            <a:srgbClr val="2C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1780" y="5303520"/>
            <a:ext cx="15041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Due diligence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1780" y="5559552"/>
            <a:ext cx="15041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3A6BD"/>
                </a:solidFill>
                <a:latin typeface="Segoe UI"/>
              </a:rPr>
              <a:t>2 semaines</a:t>
            </a:r>
          </a:p>
        </p:txBody>
      </p:sp>
      <p:sp>
        <p:nvSpPr>
          <p:cNvPr id="38" name="Oval 37"/>
          <p:cNvSpPr/>
          <p:nvPr/>
        </p:nvSpPr>
        <p:spPr>
          <a:xfrm>
            <a:off x="4480560" y="4983480"/>
            <a:ext cx="237744" cy="23774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50200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081424"/>
                </a:solidFill>
                <a:latin typeface="Segoe UI Semibold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5093208"/>
            <a:ext cx="1284732" cy="12700"/>
          </a:xfrm>
          <a:prstGeom prst="rect">
            <a:avLst/>
          </a:prstGeom>
          <a:solidFill>
            <a:srgbClr val="2C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5303520"/>
            <a:ext cx="15041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Term sheet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559552"/>
            <a:ext cx="15041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3A6BD"/>
                </a:solidFill>
                <a:latin typeface="Segoe UI"/>
              </a:rPr>
              <a:t>mi-novembre</a:t>
            </a:r>
          </a:p>
        </p:txBody>
      </p:sp>
      <p:sp>
        <p:nvSpPr>
          <p:cNvPr id="43" name="Oval 42"/>
          <p:cNvSpPr/>
          <p:nvPr/>
        </p:nvSpPr>
        <p:spPr>
          <a:xfrm>
            <a:off x="6149340" y="4983480"/>
            <a:ext cx="237744" cy="23774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9340" y="50200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081424"/>
                </a:solidFill>
                <a:latin typeface="Segoe UI Semibold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9340" y="5303520"/>
            <a:ext cx="15041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Closing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9340" y="5559552"/>
            <a:ext cx="15041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3A6BD"/>
                </a:solidFill>
                <a:latin typeface="Segoe UI"/>
              </a:rPr>
              <a:t>31 décembre 2026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58200" y="2103120"/>
            <a:ext cx="2956255" cy="3776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330200" dist="101600" dir="5400000" rotWithShape="0">
              <a:srgbClr val="0A1A2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58200" y="2103120"/>
            <a:ext cx="2956255" cy="82296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395728"/>
            <a:ext cx="2334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spc="200">
                <a:solidFill>
                  <a:srgbClr val="2E7DFF"/>
                </a:solidFill>
                <a:latin typeface="Segoe UI Semibold"/>
              </a:rPr>
              <a:t>TERMES INDICATIFS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69096" y="2788920"/>
            <a:ext cx="2334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Montant recherché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9096" y="2980944"/>
            <a:ext cx="2334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8 M€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9096" y="3291840"/>
            <a:ext cx="2334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Instrument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69096" y="3483864"/>
            <a:ext cx="2334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Actions de préférence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69096" y="3794760"/>
            <a:ext cx="2334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Tour précédent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9096" y="3986784"/>
            <a:ext cx="2334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2,2 M€ (2024)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69096" y="4297680"/>
            <a:ext cx="2334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Engagement existant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9096" y="4489704"/>
            <a:ext cx="2334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2,5 M€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69096" y="4800600"/>
            <a:ext cx="2334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Usage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9096" y="4992624"/>
            <a:ext cx="2334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24 mois de runway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69096" y="5303520"/>
            <a:ext cx="2334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B6C81"/>
                </a:solidFill>
                <a:latin typeface="Segoe UI"/>
              </a:rPr>
              <a:t>Horizon de sortie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69096" y="5495544"/>
            <a:ext cx="2334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42132"/>
                </a:solidFill>
                <a:latin typeface="Segoe UI Semibold"/>
              </a:rPr>
              <a:t>2031 – 2032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4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spc="320">
                <a:solidFill>
                  <a:srgbClr val="00C2A8"/>
                </a:solidFill>
                <a:latin typeface="Segoe UI Semibold"/>
              </a:rPr>
              <a:t>MERCI DE VOTRE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9509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Segoe UI Light"/>
              </a:rPr>
              <a:t>Relier les systèmes.
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Rendre l'exécution évidente.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315968"/>
            <a:ext cx="1463040" cy="50800"/>
          </a:xfrm>
          <a:prstGeom prst="rect">
            <a:avLst/>
          </a:prstGeom>
          <a:solidFill>
            <a:srgbClr val="2E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2686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93A6BD"/>
                </a:solidFill>
                <a:latin typeface="Segoe UI"/>
              </a:rPr>
              <a:t>Nous restons à votre disposition pour approfondir tout volet de ce dossier : accès à la data room sous 48 heures.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349240"/>
            <a:ext cx="265176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0468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spc="120">
                <a:solidFill>
                  <a:srgbClr val="93A6BD"/>
                </a:solidFill>
                <a:latin typeface="Segoe UI"/>
              </a:rPr>
              <a:t>Contact investisseurs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2414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invest@shep.io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5349240"/>
            <a:ext cx="265176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550468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spc="120">
                <a:solidFill>
                  <a:srgbClr val="93A6BD"/>
                </a:solidFill>
                <a:latin typeface="Segoe UI"/>
              </a:rPr>
              <a:t>Direction générale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72414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direction@shep.io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5349240"/>
            <a:ext cx="2651760" cy="9525"/>
          </a:xfrm>
          <a:prstGeom prst="rect">
            <a:avLst/>
          </a:prstGeom>
          <a:solidFill>
            <a:srgbClr val="24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550468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spc="120">
                <a:solidFill>
                  <a:srgbClr val="93A6BD"/>
                </a:solidFill>
                <a:latin typeface="Segoe UI"/>
              </a:rPr>
              <a:t>Data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572414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shep.io/dataroom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Shep — Dossier stratégique 2026</dc:title>
  <dc:subject>Plateforme d'orchestration des opérations</dc:subject>
  <dc:creator>Shep</dc:creator>
  <cp:keywords/>
  <dc:description>Document confidentiel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